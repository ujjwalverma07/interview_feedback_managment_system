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8" r:id="rId6"/>
    <p:sldId id="309" r:id="rId7"/>
    <p:sldId id="310" r:id="rId8"/>
    <p:sldId id="311" r:id="rId9"/>
    <p:sldId id="312" r:id="rId10"/>
    <p:sldId id="314" r:id="rId11"/>
    <p:sldId id="315" r:id="rId12"/>
    <p:sldId id="313" r:id="rId13"/>
    <p:sldId id="316" r:id="rId14"/>
    <p:sldId id="31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Project Features</a:t>
          </a:r>
          <a:br>
            <a:rPr lang="en-US" dirty="0"/>
          </a:br>
          <a:r>
            <a:rPr lang="en-US" dirty="0"/>
            <a:t>and </a:t>
          </a:r>
          <a:br>
            <a:rPr lang="en-US" dirty="0"/>
          </a:br>
          <a:r>
            <a:rPr lang="en-US" dirty="0"/>
            <a:t>Technology Stack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Future Scope, Demo Screenshots </a:t>
          </a:r>
          <a:br>
            <a:rPr lang="en-US" dirty="0"/>
          </a:br>
          <a:r>
            <a:rPr lang="en-US" dirty="0"/>
            <a:t>and Conclusion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Architecture and Api Design and Diagrams</a:t>
          </a:r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B6056BFB-47D7-4C5F-BA11-2CB63C56A52D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311B26C8-22B1-4363-B621-DD56FB7418C8}" type="pres">
      <dgm:prSet presAssocID="{40FC4FFE-8987-4A26-B7F4-8A516F18ADAE}" presName="compNode" presStyleCnt="0"/>
      <dgm:spPr/>
    </dgm:pt>
    <dgm:pt modelId="{A201D7A7-914C-4D24-8B82-EE40155AB0BE}" type="pres">
      <dgm:prSet presAssocID="{40FC4FFE-8987-4A26-B7F4-8A516F18ADAE}" presName="iconBgRect" presStyleLbl="bgShp" presStyleIdx="0" presStyleCnt="3"/>
      <dgm:spPr>
        <a:prstGeom prst="ellipse">
          <a:avLst/>
        </a:prstGeom>
      </dgm:spPr>
    </dgm:pt>
    <dgm:pt modelId="{8FA2F131-CD01-4CBD-B7A5-1B9B5E7F040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F755F00C-B2DB-4097-B4BC-8F1BACC938B7}" type="pres">
      <dgm:prSet presAssocID="{40FC4FFE-8987-4A26-B7F4-8A516F18ADAE}" presName="spaceRect" presStyleCnt="0"/>
      <dgm:spPr/>
    </dgm:pt>
    <dgm:pt modelId="{08F4E96D-0DB6-4476-8C51-7CC7EC2F227B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5AB3C10D-885E-4522-AB39-7ED4318D191A}" type="pres">
      <dgm:prSet presAssocID="{5B62599A-5C9B-48E7-896E-EA782AC60C8B}" presName="sibTrans" presStyleCnt="0"/>
      <dgm:spPr/>
    </dgm:pt>
    <dgm:pt modelId="{2F278BF9-E1B2-4A1C-B065-C19A7B904219}" type="pres">
      <dgm:prSet presAssocID="{49225C73-1633-42F1-AB3B-7CB183E5F8B8}" presName="compNode" presStyleCnt="0"/>
      <dgm:spPr/>
    </dgm:pt>
    <dgm:pt modelId="{543C18BC-1989-44B2-9862-C670C61D3452}" type="pres">
      <dgm:prSet presAssocID="{49225C73-1633-42F1-AB3B-7CB183E5F8B8}" presName="iconBgRect" presStyleLbl="bgShp" presStyleIdx="1" presStyleCnt="3"/>
      <dgm:spPr>
        <a:prstGeom prst="ellipse">
          <a:avLst/>
        </a:prstGeom>
      </dgm:spPr>
    </dgm:pt>
    <dgm:pt modelId="{E94F35BC-9C76-400A-BBCA-0032259E2E5A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03A6D04-9ADD-43CC-9847-497CD48F2D11}" type="pres">
      <dgm:prSet presAssocID="{49225C73-1633-42F1-AB3B-7CB183E5F8B8}" presName="spaceRect" presStyleCnt="0"/>
      <dgm:spPr/>
    </dgm:pt>
    <dgm:pt modelId="{20363298-B2A6-463D-A7BE-F9F67404E389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A47947BB-708D-4F7E-B072-3C2E42B34B24}" type="pres">
      <dgm:prSet presAssocID="{9646853A-8964-4519-A5B1-0B7D18B2983D}" presName="sibTrans" presStyleCnt="0"/>
      <dgm:spPr/>
    </dgm:pt>
    <dgm:pt modelId="{BDCD0AC9-D564-4025-AD8A-36664A6CBE31}" type="pres">
      <dgm:prSet presAssocID="{1C383F32-22E8-4F62-A3E0-BDC3D5F48992}" presName="compNode" presStyleCnt="0"/>
      <dgm:spPr/>
    </dgm:pt>
    <dgm:pt modelId="{5BDDFF18-9AEC-4E5E-B9AA-33D86F01A63E}" type="pres">
      <dgm:prSet presAssocID="{1C383F32-22E8-4F62-A3E0-BDC3D5F48992}" presName="iconBgRect" presStyleLbl="bgShp" presStyleIdx="2" presStyleCnt="3"/>
      <dgm:spPr>
        <a:prstGeom prst="ellipse">
          <a:avLst/>
        </a:prstGeom>
      </dgm:spPr>
    </dgm:pt>
    <dgm:pt modelId="{F09AEBFF-D2D3-4FFF-AD65-C3CEAEEB10F2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2EBFBCF-0520-415A-A886-3C4F90D208EF}" type="pres">
      <dgm:prSet presAssocID="{1C383F32-22E8-4F62-A3E0-BDC3D5F48992}" presName="spaceRect" presStyleCnt="0"/>
      <dgm:spPr/>
    </dgm:pt>
    <dgm:pt modelId="{AB9CAFAA-6939-48A6-A89B-19D1A94B9EA1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BA953D32-2DFF-47FE-AF26-C6B9E63D38DF}" type="presOf" srcId="{49225C73-1633-42F1-AB3B-7CB183E5F8B8}" destId="{20363298-B2A6-463D-A7BE-F9F67404E389}" srcOrd="0" destOrd="0" presId="urn:microsoft.com/office/officeart/2018/5/layout/IconLeafLabelList"/>
    <dgm:cxn modelId="{EC450542-0ED9-4BD6-9E85-5709B80794C5}" type="presOf" srcId="{01A66772-F185-4D58-B8BB-E9370D7A7A2B}" destId="{B6056BFB-47D7-4C5F-BA11-2CB63C56A52D}" srcOrd="0" destOrd="0" presId="urn:microsoft.com/office/officeart/2018/5/layout/IconLeaf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D55FAE9C-CF3C-44F3-9D1E-DE6DF574E6D9}" type="presOf" srcId="{1C383F32-22E8-4F62-A3E0-BDC3D5F48992}" destId="{AB9CAFAA-6939-48A6-A89B-19D1A94B9EA1}" srcOrd="0" destOrd="0" presId="urn:microsoft.com/office/officeart/2018/5/layout/IconLeafLabelList"/>
    <dgm:cxn modelId="{A85983B4-FADF-419C-BC71-B5F0871C3055}" type="presOf" srcId="{40FC4FFE-8987-4A26-B7F4-8A516F18ADAE}" destId="{08F4E96D-0DB6-4476-8C51-7CC7EC2F227B}" srcOrd="0" destOrd="0" presId="urn:microsoft.com/office/officeart/2018/5/layout/IconLeafLabelList"/>
    <dgm:cxn modelId="{A3E74EE8-8900-4EBD-8983-3BF0AFD6DCC7}" type="presParOf" srcId="{B6056BFB-47D7-4C5F-BA11-2CB63C56A52D}" destId="{311B26C8-22B1-4363-B621-DD56FB7418C8}" srcOrd="0" destOrd="0" presId="urn:microsoft.com/office/officeart/2018/5/layout/IconLeafLabelList"/>
    <dgm:cxn modelId="{044EA9E0-B51B-492A-BE32-015CEAD0BAC9}" type="presParOf" srcId="{311B26C8-22B1-4363-B621-DD56FB7418C8}" destId="{A201D7A7-914C-4D24-8B82-EE40155AB0BE}" srcOrd="0" destOrd="0" presId="urn:microsoft.com/office/officeart/2018/5/layout/IconLeafLabelList"/>
    <dgm:cxn modelId="{08373EC6-14CB-429D-9495-F32683B931D7}" type="presParOf" srcId="{311B26C8-22B1-4363-B621-DD56FB7418C8}" destId="{8FA2F131-CD01-4CBD-B7A5-1B9B5E7F0402}" srcOrd="1" destOrd="0" presId="urn:microsoft.com/office/officeart/2018/5/layout/IconLeafLabelList"/>
    <dgm:cxn modelId="{9AB500F0-62A2-4E73-B4F4-5056804C8D6A}" type="presParOf" srcId="{311B26C8-22B1-4363-B621-DD56FB7418C8}" destId="{F755F00C-B2DB-4097-B4BC-8F1BACC938B7}" srcOrd="2" destOrd="0" presId="urn:microsoft.com/office/officeart/2018/5/layout/IconLeafLabelList"/>
    <dgm:cxn modelId="{676606A7-6564-4CEB-ACE0-4FF9A3A04E67}" type="presParOf" srcId="{311B26C8-22B1-4363-B621-DD56FB7418C8}" destId="{08F4E96D-0DB6-4476-8C51-7CC7EC2F227B}" srcOrd="3" destOrd="0" presId="urn:microsoft.com/office/officeart/2018/5/layout/IconLeafLabelList"/>
    <dgm:cxn modelId="{EAE0F94A-A454-4049-84F7-9EC90E847A03}" type="presParOf" srcId="{B6056BFB-47D7-4C5F-BA11-2CB63C56A52D}" destId="{5AB3C10D-885E-4522-AB39-7ED4318D191A}" srcOrd="1" destOrd="0" presId="urn:microsoft.com/office/officeart/2018/5/layout/IconLeafLabelList"/>
    <dgm:cxn modelId="{B0B5B21A-5ADD-4500-9A67-9B26AF543EBA}" type="presParOf" srcId="{B6056BFB-47D7-4C5F-BA11-2CB63C56A52D}" destId="{2F278BF9-E1B2-4A1C-B065-C19A7B904219}" srcOrd="2" destOrd="0" presId="urn:microsoft.com/office/officeart/2018/5/layout/IconLeafLabelList"/>
    <dgm:cxn modelId="{11FEAF2C-54F7-4E9C-A1D6-5FA0BF7F3665}" type="presParOf" srcId="{2F278BF9-E1B2-4A1C-B065-C19A7B904219}" destId="{543C18BC-1989-44B2-9862-C670C61D3452}" srcOrd="0" destOrd="0" presId="urn:microsoft.com/office/officeart/2018/5/layout/IconLeafLabelList"/>
    <dgm:cxn modelId="{92C17ECB-A80D-4A0E-95CF-40A53D32275F}" type="presParOf" srcId="{2F278BF9-E1B2-4A1C-B065-C19A7B904219}" destId="{E94F35BC-9C76-400A-BBCA-0032259E2E5A}" srcOrd="1" destOrd="0" presId="urn:microsoft.com/office/officeart/2018/5/layout/IconLeafLabelList"/>
    <dgm:cxn modelId="{54E5AE33-4BE6-44E7-871B-1103A0BA7A56}" type="presParOf" srcId="{2F278BF9-E1B2-4A1C-B065-C19A7B904219}" destId="{503A6D04-9ADD-43CC-9847-497CD48F2D11}" srcOrd="2" destOrd="0" presId="urn:microsoft.com/office/officeart/2018/5/layout/IconLeafLabelList"/>
    <dgm:cxn modelId="{3575FCA0-4FCE-460A-8D84-2C767D311A20}" type="presParOf" srcId="{2F278BF9-E1B2-4A1C-B065-C19A7B904219}" destId="{20363298-B2A6-463D-A7BE-F9F67404E389}" srcOrd="3" destOrd="0" presId="urn:microsoft.com/office/officeart/2018/5/layout/IconLeafLabelList"/>
    <dgm:cxn modelId="{4FD22448-C17B-4C43-BAB3-A0B7AA9BCE0D}" type="presParOf" srcId="{B6056BFB-47D7-4C5F-BA11-2CB63C56A52D}" destId="{A47947BB-708D-4F7E-B072-3C2E42B34B24}" srcOrd="3" destOrd="0" presId="urn:microsoft.com/office/officeart/2018/5/layout/IconLeafLabelList"/>
    <dgm:cxn modelId="{75E30F4F-0E76-457B-9D4F-CDE27C2F7F77}" type="presParOf" srcId="{B6056BFB-47D7-4C5F-BA11-2CB63C56A52D}" destId="{BDCD0AC9-D564-4025-AD8A-36664A6CBE31}" srcOrd="4" destOrd="0" presId="urn:microsoft.com/office/officeart/2018/5/layout/IconLeafLabelList"/>
    <dgm:cxn modelId="{C6A367E7-6A7C-42CB-94E4-8EA78AEF87BF}" type="presParOf" srcId="{BDCD0AC9-D564-4025-AD8A-36664A6CBE31}" destId="{5BDDFF18-9AEC-4E5E-B9AA-33D86F01A63E}" srcOrd="0" destOrd="0" presId="urn:microsoft.com/office/officeart/2018/5/layout/IconLeafLabelList"/>
    <dgm:cxn modelId="{B180CBEB-FA9F-4E52-8CA3-A65CB80BB91B}" type="presParOf" srcId="{BDCD0AC9-D564-4025-AD8A-36664A6CBE31}" destId="{F09AEBFF-D2D3-4FFF-AD65-C3CEAEEB10F2}" srcOrd="1" destOrd="0" presId="urn:microsoft.com/office/officeart/2018/5/layout/IconLeafLabelList"/>
    <dgm:cxn modelId="{170B020E-1E19-4EB4-A72C-4FCF01A7DD7E}" type="presParOf" srcId="{BDCD0AC9-D564-4025-AD8A-36664A6CBE31}" destId="{F2EBFBCF-0520-415A-A886-3C4F90D208EF}" srcOrd="2" destOrd="0" presId="urn:microsoft.com/office/officeart/2018/5/layout/IconLeafLabelList"/>
    <dgm:cxn modelId="{CADD8F7D-722C-42A0-AF21-39A3559F8D7B}" type="presParOf" srcId="{BDCD0AC9-D564-4025-AD8A-36664A6CBE31}" destId="{AB9CAFAA-6939-48A6-A89B-19D1A94B9EA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1D7A7-914C-4D24-8B82-EE40155AB0BE}">
      <dsp:nvSpPr>
        <dsp:cNvPr id="0" name=""/>
        <dsp:cNvSpPr/>
      </dsp:nvSpPr>
      <dsp:spPr>
        <a:xfrm>
          <a:off x="616949" y="34053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2F131-CD01-4CBD-B7A5-1B9B5E7F0402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4E96D-0DB6-4476-8C51-7CC7EC2F227B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Project Features</a:t>
          </a:r>
          <a:br>
            <a:rPr lang="en-US" sz="1600" kern="1200" dirty="0"/>
          </a:br>
          <a:r>
            <a:rPr lang="en-US" sz="1600" kern="1200" dirty="0"/>
            <a:t>and </a:t>
          </a:r>
          <a:br>
            <a:rPr lang="en-US" sz="1600" kern="1200" dirty="0"/>
          </a:br>
          <a:r>
            <a:rPr lang="en-US" sz="1600" kern="1200" dirty="0"/>
            <a:t>Technology Stack</a:t>
          </a:r>
        </a:p>
      </dsp:txBody>
      <dsp:txXfrm>
        <a:off x="35606" y="2725540"/>
        <a:ext cx="2981250" cy="720000"/>
      </dsp:txXfrm>
    </dsp:sp>
    <dsp:sp modelId="{543C18BC-1989-44B2-9862-C670C61D3452}">
      <dsp:nvSpPr>
        <dsp:cNvPr id="0" name=""/>
        <dsp:cNvSpPr/>
      </dsp:nvSpPr>
      <dsp:spPr>
        <a:xfrm>
          <a:off x="4119918" y="34053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F35BC-9C76-400A-BBCA-0032259E2E5A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63298-B2A6-463D-A7BE-F9F67404E389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Architecture and Api Design and Diagrams</a:t>
          </a:r>
        </a:p>
      </dsp:txBody>
      <dsp:txXfrm>
        <a:off x="3538574" y="2725540"/>
        <a:ext cx="2981250" cy="720000"/>
      </dsp:txXfrm>
    </dsp:sp>
    <dsp:sp modelId="{5BDDFF18-9AEC-4E5E-B9AA-33D86F01A63E}">
      <dsp:nvSpPr>
        <dsp:cNvPr id="0" name=""/>
        <dsp:cNvSpPr/>
      </dsp:nvSpPr>
      <dsp:spPr>
        <a:xfrm>
          <a:off x="7622887" y="34053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AEBFF-D2D3-4FFF-AD65-C3CEAEEB10F2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CAFAA-6939-48A6-A89B-19D1A94B9EA1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Future Scope, Demo Screenshots </a:t>
          </a:r>
          <a:br>
            <a:rPr lang="en-US" sz="1600" kern="1200" dirty="0"/>
          </a:br>
          <a:r>
            <a:rPr lang="en-US" sz="1600" kern="1200" dirty="0"/>
            <a:t>and Conclusion</a:t>
          </a:r>
        </a:p>
      </dsp:txBody>
      <dsp:txXfrm>
        <a:off x="7041543" y="2725540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 fontScale="90000"/>
          </a:bodyPr>
          <a:lstStyle/>
          <a:p>
            <a:r>
              <a:rPr lang="en-US" dirty="0"/>
              <a:t>Interview Feedback Management System.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By:-</a:t>
            </a:r>
          </a:p>
          <a:p>
            <a:r>
              <a:rPr lang="en-US" dirty="0"/>
              <a:t>Ujjwal Verma</a:t>
            </a:r>
            <a:br>
              <a:rPr lang="en-US" dirty="0"/>
            </a:br>
            <a:r>
              <a:rPr lang="en-US" dirty="0"/>
              <a:t>ujjwalvarma6948@gmail.com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Content:- </a:t>
            </a:r>
          </a:p>
        </p:txBody>
      </p:sp>
      <p:graphicFrame>
        <p:nvGraphicFramePr>
          <p:cNvPr id="4" name="Content Placeholder 2" descr="SmartArt graphic">
            <a:extLst>
              <a:ext uri="{FF2B5EF4-FFF2-40B4-BE49-F238E27FC236}">
                <a16:creationId xmlns:a16="http://schemas.microsoft.com/office/drawing/2014/main" id="{59F5A1AC-D08D-42AE-B94A-1CAFB517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75266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B894-D5E8-1614-4073-CAD4FF3C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Features:-</a:t>
            </a:r>
            <a:br>
              <a:rPr lang="en-IN" dirty="0"/>
            </a:br>
            <a:r>
              <a:rPr lang="en-IN" sz="1800" dirty="0"/>
              <a:t>Enhancing Interview Management with Efficiency and Transparency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C0288-DBDC-FCF4-1115-6DE3B336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Role Based Access Control</a:t>
            </a:r>
            <a:r>
              <a:rPr lang="en-IN" dirty="0"/>
              <a:t>:-Secure authentication and authorization for Hr managers &amp; interviewers</a:t>
            </a:r>
          </a:p>
          <a:p>
            <a:r>
              <a:rPr lang="en-IN" b="1" dirty="0"/>
              <a:t>Interview Scheduling and Management</a:t>
            </a:r>
            <a:r>
              <a:rPr lang="en-IN" dirty="0"/>
              <a:t>:-Seamless interview Creation, assignment and scheduling</a:t>
            </a:r>
            <a:br>
              <a:rPr lang="en-IN" dirty="0"/>
            </a:br>
            <a:r>
              <a:rPr lang="en-IN" dirty="0"/>
              <a:t>Automated notifications for interviewers and candidates.</a:t>
            </a:r>
          </a:p>
          <a:p>
            <a:r>
              <a:rPr lang="en-IN" b="1" dirty="0"/>
              <a:t>Feedback Collection and Analysis</a:t>
            </a:r>
            <a:r>
              <a:rPr lang="en-IN" dirty="0"/>
              <a:t>:-Structured Feedback submission with skill ratings and comments, Decision-making support for HR with historical interview data.</a:t>
            </a:r>
          </a:p>
          <a:p>
            <a:r>
              <a:rPr lang="en-IN" b="1" dirty="0"/>
              <a:t>User-Friendly Dashboard and UI</a:t>
            </a:r>
            <a:r>
              <a:rPr lang="en-IN" dirty="0"/>
              <a:t>:-</a:t>
            </a:r>
            <a:r>
              <a:rPr lang="en-IN" dirty="0" err="1"/>
              <a:t>Intutive</a:t>
            </a:r>
            <a:r>
              <a:rPr lang="en-IN" dirty="0"/>
              <a:t> interface for easy navigation and </a:t>
            </a:r>
            <a:r>
              <a:rPr lang="en-IN" dirty="0" err="1"/>
              <a:t>usablity</a:t>
            </a:r>
            <a:endParaRPr lang="en-IN" dirty="0"/>
          </a:p>
          <a:p>
            <a:r>
              <a:rPr lang="en-IN" b="1" dirty="0"/>
              <a:t>Machine Learning Integration (Future Scope):-</a:t>
            </a:r>
            <a:r>
              <a:rPr lang="en-IN" dirty="0"/>
              <a:t>Potential implementation of AI Based insights for interview feedback analysis, Predictive analysis for candidate selection trends.</a:t>
            </a:r>
          </a:p>
        </p:txBody>
      </p:sp>
    </p:spTree>
    <p:extLst>
      <p:ext uri="{BB962C8B-B14F-4D97-AF65-F5344CB8AC3E}">
        <p14:creationId xmlns:p14="http://schemas.microsoft.com/office/powerpoint/2010/main" val="31788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4978-5A0E-2AE7-1F9F-0A4BB5DE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Stack:-</a:t>
            </a:r>
            <a:br>
              <a:rPr lang="en-IN" dirty="0"/>
            </a:br>
            <a:r>
              <a:rPr lang="en-IN" sz="1800" dirty="0"/>
              <a:t>Robust and Scalable Architecture for IFMS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C4767-0797-71BC-19AC-A4A772D55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Frontend</a:t>
            </a:r>
            <a:r>
              <a:rPr lang="en-IN" dirty="0"/>
              <a:t>:-Vue.js(JavaScript framework for dynamic UI),Fetch API</a:t>
            </a:r>
          </a:p>
          <a:p>
            <a:pPr marL="0" indent="0">
              <a:buNone/>
            </a:pPr>
            <a:r>
              <a:rPr lang="en-IN" b="1" dirty="0"/>
              <a:t>Bootstrap:-</a:t>
            </a:r>
            <a:r>
              <a:rPr lang="en-IN" dirty="0"/>
              <a:t>(For responsive Design)</a:t>
            </a:r>
          </a:p>
          <a:p>
            <a:pPr marL="0" indent="0">
              <a:buNone/>
            </a:pPr>
            <a:r>
              <a:rPr lang="en-IN" b="1" dirty="0"/>
              <a:t>Backend</a:t>
            </a:r>
            <a:r>
              <a:rPr lang="en-IN" dirty="0"/>
              <a:t>:-Java 17(Core Backend Logic and Api Documentation),</a:t>
            </a:r>
            <a:r>
              <a:rPr lang="en-IN" dirty="0" err="1"/>
              <a:t>SpringBoot</a:t>
            </a:r>
            <a:r>
              <a:rPr lang="en-IN" dirty="0"/>
              <a:t>(Microservice framework for REST API)</a:t>
            </a:r>
          </a:p>
          <a:p>
            <a:pPr marL="0" indent="0">
              <a:buNone/>
            </a:pPr>
            <a:r>
              <a:rPr lang="en-IN" b="1" dirty="0"/>
              <a:t>Spring Security</a:t>
            </a:r>
            <a:r>
              <a:rPr lang="en-IN" dirty="0"/>
              <a:t>(Authentication and Role Based Access Control)</a:t>
            </a:r>
          </a:p>
          <a:p>
            <a:pPr marL="0" indent="0">
              <a:buNone/>
            </a:pPr>
            <a:r>
              <a:rPr lang="en-IN" b="1" dirty="0"/>
              <a:t>JWT</a:t>
            </a:r>
            <a:r>
              <a:rPr lang="en-IN" dirty="0"/>
              <a:t>(JSON Web Token for secure authentication)</a:t>
            </a:r>
          </a:p>
          <a:p>
            <a:pPr marL="0" indent="0">
              <a:buNone/>
            </a:pPr>
            <a:r>
              <a:rPr lang="en-IN" b="1" dirty="0"/>
              <a:t>Database</a:t>
            </a:r>
            <a:r>
              <a:rPr lang="en-IN" dirty="0"/>
              <a:t>:-PostgreSQL(Relational Database for structured data Storage.</a:t>
            </a:r>
          </a:p>
        </p:txBody>
      </p:sp>
    </p:spTree>
    <p:extLst>
      <p:ext uri="{BB962C8B-B14F-4D97-AF65-F5344CB8AC3E}">
        <p14:creationId xmlns:p14="http://schemas.microsoft.com/office/powerpoint/2010/main" val="4167396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3BA0-A70F-A873-F24A-A5A67CF1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444A-6D65-1D0A-CB57-F18FDE6F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46254"/>
          </a:xfrm>
        </p:spPr>
        <p:txBody>
          <a:bodyPr/>
          <a:lstStyle/>
          <a:p>
            <a:r>
              <a:rPr lang="en-IN" dirty="0"/>
              <a:t>System Architecture:-</a:t>
            </a:r>
            <a:br>
              <a:rPr lang="en-IN" dirty="0"/>
            </a:br>
            <a:r>
              <a:rPr lang="en-IN" sz="1800" dirty="0"/>
              <a:t>scalable and secure Architecture of IFMS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0FAF1E-F623-003B-17FB-848E140CC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915887"/>
            <a:ext cx="6694714" cy="4430485"/>
          </a:xfrm>
        </p:spPr>
      </p:pic>
    </p:spTree>
    <p:extLst>
      <p:ext uri="{BB962C8B-B14F-4D97-AF65-F5344CB8AC3E}">
        <p14:creationId xmlns:p14="http://schemas.microsoft.com/office/powerpoint/2010/main" val="308800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2201-46FE-1284-CA85-7F54E5C6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Diagram:-</a:t>
            </a:r>
            <a:br>
              <a:rPr lang="en-IN" dirty="0"/>
            </a:br>
            <a:r>
              <a:rPr lang="en-IN" sz="1800" dirty="0"/>
              <a:t>Database Design of the IFMS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960B-075C-E5F5-4466-06A6D27B2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454399"/>
          </a:xfrm>
        </p:spPr>
        <p:txBody>
          <a:bodyPr>
            <a:normAutofit fontScale="55000" lnSpcReduction="20000"/>
          </a:bodyPr>
          <a:lstStyle/>
          <a:p>
            <a:r>
              <a:rPr lang="en-IN" sz="3300" b="1" dirty="0"/>
              <a:t>Tables:-</a:t>
            </a:r>
          </a:p>
          <a:p>
            <a:r>
              <a:rPr lang="en-IN" sz="2900" b="1" dirty="0"/>
              <a:t>User Table</a:t>
            </a:r>
            <a:r>
              <a:rPr lang="en-IN" sz="2900" dirty="0"/>
              <a:t>:-Stores User Information</a:t>
            </a:r>
            <a:br>
              <a:rPr lang="en-IN" sz="2900" dirty="0"/>
            </a:br>
            <a:r>
              <a:rPr lang="en-IN" sz="2900" b="1" dirty="0"/>
              <a:t>Attributes</a:t>
            </a:r>
            <a:r>
              <a:rPr lang="en-IN" sz="2900" dirty="0"/>
              <a:t>:- </a:t>
            </a:r>
            <a:r>
              <a:rPr lang="en-IN" sz="2900" dirty="0" err="1"/>
              <a:t>id,name,email,password,role</a:t>
            </a:r>
            <a:br>
              <a:rPr lang="en-IN" sz="2900" dirty="0"/>
            </a:br>
            <a:br>
              <a:rPr lang="en-IN" sz="2900" dirty="0"/>
            </a:br>
            <a:r>
              <a:rPr lang="en-IN" sz="2900" b="1" dirty="0"/>
              <a:t>Interview Table</a:t>
            </a:r>
            <a:r>
              <a:rPr lang="en-IN" sz="2900" dirty="0"/>
              <a:t>:-Stores interview Details</a:t>
            </a:r>
            <a:br>
              <a:rPr lang="en-IN" sz="2900" dirty="0"/>
            </a:br>
            <a:r>
              <a:rPr lang="en-IN" sz="2900" b="1" dirty="0"/>
              <a:t>Attributes</a:t>
            </a:r>
            <a:r>
              <a:rPr lang="en-IN" sz="2900" dirty="0"/>
              <a:t>:- id,candidate_name,candidate_email,scheduled_at,status,interviewer_email,interviewer_name,hr_manager_id.</a:t>
            </a:r>
            <a:br>
              <a:rPr lang="en-IN" sz="2900" dirty="0"/>
            </a:br>
            <a:br>
              <a:rPr lang="en-IN" sz="2900" dirty="0"/>
            </a:br>
            <a:r>
              <a:rPr lang="en-IN" sz="2900" b="1" dirty="0"/>
              <a:t>Feedback Table</a:t>
            </a:r>
            <a:r>
              <a:rPr lang="en-IN" sz="2900" dirty="0"/>
              <a:t>:-Stores Feedback provided by interviewers.</a:t>
            </a:r>
            <a:br>
              <a:rPr lang="en-IN" sz="2900" dirty="0"/>
            </a:br>
            <a:r>
              <a:rPr lang="en-IN" sz="2900" b="1" dirty="0"/>
              <a:t>Attributes</a:t>
            </a:r>
            <a:r>
              <a:rPr lang="en-IN" sz="2900" dirty="0"/>
              <a:t>:- </a:t>
            </a:r>
            <a:r>
              <a:rPr lang="en-IN" sz="2900" dirty="0" err="1"/>
              <a:t>id,interview_id,interviewer_id,decision,commets</a:t>
            </a:r>
            <a:br>
              <a:rPr lang="en-IN" sz="2900" dirty="0"/>
            </a:br>
            <a:br>
              <a:rPr lang="en-IN" sz="2900" dirty="0"/>
            </a:br>
            <a:r>
              <a:rPr lang="en-IN" sz="2900" b="1" dirty="0"/>
              <a:t>Skill Rating Table: </a:t>
            </a:r>
            <a:r>
              <a:rPr lang="en-IN" sz="2900" dirty="0"/>
              <a:t>Stores detailed skill assessments for candidates.</a:t>
            </a:r>
            <a:br>
              <a:rPr lang="en-IN" sz="2900" dirty="0"/>
            </a:br>
            <a:r>
              <a:rPr lang="en-IN" sz="2900" b="1" dirty="0"/>
              <a:t>Attributes</a:t>
            </a:r>
            <a:r>
              <a:rPr lang="en-IN" sz="2900" dirty="0"/>
              <a:t>:- </a:t>
            </a:r>
            <a:r>
              <a:rPr lang="en-IN" sz="2900" dirty="0" err="1"/>
              <a:t>id,feedback_id,skill_name,rating,topics,comments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7766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198F-F342-CC21-F6AF-A7677EBB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B958-F445-192D-25BB-E3D320E73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AI Powered Candidate evaluation:-</a:t>
            </a:r>
            <a:br>
              <a:rPr lang="en-IN" dirty="0"/>
            </a:br>
            <a:r>
              <a:rPr lang="en-IN" dirty="0"/>
              <a:t>Implement Machine Learning models to </a:t>
            </a:r>
            <a:r>
              <a:rPr lang="en-IN" dirty="0" err="1"/>
              <a:t>analyze</a:t>
            </a:r>
            <a:r>
              <a:rPr lang="en-IN" dirty="0"/>
              <a:t> feedback patterns and predict candidate suitability.</a:t>
            </a:r>
            <a:br>
              <a:rPr lang="en-IN" dirty="0"/>
            </a:br>
            <a:br>
              <a:rPr lang="en-IN" b="1" dirty="0"/>
            </a:br>
            <a:r>
              <a:rPr lang="en-IN" b="1" dirty="0"/>
              <a:t>Automated Interview Scheduling:-</a:t>
            </a:r>
            <a:br>
              <a:rPr lang="en-IN" dirty="0"/>
            </a:br>
            <a:r>
              <a:rPr lang="en-IN" dirty="0"/>
              <a:t>Use AI driven smart scheduling to optimize interview slot allocation.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Enhanced Analytics and Reporting:-</a:t>
            </a:r>
            <a:br>
              <a:rPr lang="en-IN" dirty="0"/>
            </a:br>
            <a:r>
              <a:rPr lang="en-IN" dirty="0"/>
              <a:t>Generate insights and visualisations on interview </a:t>
            </a:r>
            <a:r>
              <a:rPr lang="en-IN" dirty="0" err="1"/>
              <a:t>trends,candidate</a:t>
            </a:r>
            <a:r>
              <a:rPr lang="en-IN" dirty="0"/>
              <a:t> performance and hiring decisions.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4373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48BE-0BF5-54A3-30F0-032A1646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Screenshots:-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C90AA-2D12-5191-AA92-6249C0E36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78051"/>
            <a:ext cx="4748349" cy="26923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9D79FF-4F19-C3AA-ACC5-F2B7CB5A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629" y="2178051"/>
            <a:ext cx="5310051" cy="280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9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055B-2B61-7905-E10F-611CAFCA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EF0C2-F967-64CD-C590-CFDD5C8B7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72" y="0"/>
            <a:ext cx="6045906" cy="340365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DAA3E0-069C-0D8B-FE2D-8D6964365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478" y="0"/>
            <a:ext cx="5680184" cy="3403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E50664-349D-F8F9-E0F9-9BF365187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478" y="3403654"/>
            <a:ext cx="5680184" cy="29644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2A156A-3D04-B7A8-D895-1EF72B4A4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72" y="3482332"/>
            <a:ext cx="6045906" cy="296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82DA6-4B44-5D87-83D7-A2AFBA0B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and Learnings:-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A961E-6445-2500-27DB-616449977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Challenges:-</a:t>
            </a:r>
            <a:br>
              <a:rPr lang="en-IN" b="1" dirty="0"/>
            </a:br>
            <a:r>
              <a:rPr lang="en-IN" b="1" dirty="0"/>
              <a:t>Data Security and Compliance:-</a:t>
            </a:r>
            <a:br>
              <a:rPr lang="en-IN" b="1" dirty="0"/>
            </a:br>
            <a:r>
              <a:rPr lang="en-IN" dirty="0"/>
              <a:t>Ensuring secure password storage (</a:t>
            </a:r>
            <a:r>
              <a:rPr lang="en-IN" dirty="0" err="1"/>
              <a:t>bcrypt</a:t>
            </a:r>
            <a:r>
              <a:rPr lang="en-IN" dirty="0"/>
              <a:t> hashing) and protecting sensitive data.</a:t>
            </a:r>
            <a:br>
              <a:rPr lang="en-IN" dirty="0"/>
            </a:br>
            <a:r>
              <a:rPr lang="en-IN" b="1" dirty="0"/>
              <a:t>Frontend and Backend Integration:-</a:t>
            </a:r>
            <a:br>
              <a:rPr lang="en-IN" dirty="0"/>
            </a:br>
            <a:r>
              <a:rPr lang="en-IN" dirty="0"/>
              <a:t>Ensuring smooth communication between Vue.js(frontend) and (</a:t>
            </a:r>
            <a:r>
              <a:rPr lang="en-IN" dirty="0" err="1"/>
              <a:t>SpringBoot</a:t>
            </a:r>
            <a:r>
              <a:rPr lang="en-IN" dirty="0"/>
              <a:t>) Backend using Fetch API</a:t>
            </a:r>
          </a:p>
          <a:p>
            <a:r>
              <a:rPr lang="en-IN" b="1" dirty="0"/>
              <a:t>Security:-</a:t>
            </a:r>
            <a:br>
              <a:rPr lang="en-IN" b="1" dirty="0"/>
            </a:br>
            <a:r>
              <a:rPr lang="en-IN" b="1" dirty="0"/>
              <a:t>Deepened Knowledge </a:t>
            </a:r>
            <a:r>
              <a:rPr lang="en-IN" dirty="0"/>
              <a:t>of full stack development(</a:t>
            </a:r>
            <a:r>
              <a:rPr lang="en-IN" dirty="0" err="1"/>
              <a:t>Springboot</a:t>
            </a:r>
            <a:r>
              <a:rPr lang="en-IN" dirty="0"/>
              <a:t>, </a:t>
            </a:r>
            <a:r>
              <a:rPr lang="en-IN" dirty="0" err="1"/>
              <a:t>Vuejs</a:t>
            </a:r>
            <a:r>
              <a:rPr lang="en-IN" dirty="0"/>
              <a:t>, PostgreSQL)</a:t>
            </a:r>
            <a:br>
              <a:rPr lang="en-IN" dirty="0"/>
            </a:br>
            <a:r>
              <a:rPr lang="en-IN" b="1" dirty="0"/>
              <a:t>Improved Problem Solving </a:t>
            </a:r>
            <a:r>
              <a:rPr lang="en-IN" dirty="0"/>
              <a:t>Skills in debugging API Failures and performance bottlenecks.</a:t>
            </a:r>
            <a:br>
              <a:rPr lang="en-IN" dirty="0"/>
            </a:br>
            <a:r>
              <a:rPr lang="en-US" b="1" dirty="0"/>
              <a:t>Importance of version control (Git, GitHub)</a:t>
            </a:r>
            <a:r>
              <a:rPr lang="en-US" dirty="0"/>
              <a:t> in collaborative development.</a:t>
            </a:r>
            <a:br>
              <a:rPr lang="en-IN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4846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E7D0-3BA6-1818-965F-AEC6138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AD7EB-8058-D30A-38A8-981058193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Interview Feedback Management System (IFMS)</a:t>
            </a:r>
            <a:r>
              <a:rPr lang="en-US" dirty="0"/>
              <a:t> successfully streamlines the interview process, ensuring structured feedback collection and efficient decision-making</a:t>
            </a:r>
          </a:p>
          <a:p>
            <a:br>
              <a:rPr lang="en-US" dirty="0"/>
            </a:br>
            <a:r>
              <a:rPr lang="en-US" b="1" dirty="0"/>
              <a:t>Key technical highlights</a:t>
            </a:r>
            <a:r>
              <a:rPr lang="en-US" dirty="0"/>
              <a:t> include a </a:t>
            </a:r>
            <a:r>
              <a:rPr lang="en-US" b="1" dirty="0"/>
              <a:t>secure authentication system, role-based access control (RBAC), RESTful API design, and a scalable architecture.</a:t>
            </a:r>
          </a:p>
          <a:p>
            <a:br>
              <a:rPr lang="en-US" b="1" dirty="0"/>
            </a:br>
            <a:r>
              <a:rPr lang="en-US" dirty="0"/>
              <a:t>The project provided valuable </a:t>
            </a:r>
            <a:r>
              <a:rPr lang="en-US" b="1" dirty="0"/>
              <a:t>hands-on experience in full-stack development</a:t>
            </a:r>
            <a:r>
              <a:rPr lang="en-US" dirty="0"/>
              <a:t>, integrating </a:t>
            </a:r>
            <a:r>
              <a:rPr lang="en-US" b="1" dirty="0"/>
              <a:t>Java Spring Boot, Vue.js, and PostgreSQL</a:t>
            </a:r>
            <a:r>
              <a:rPr lang="en-US" dirty="0"/>
              <a:t> with modern web development best practices.</a:t>
            </a:r>
            <a:br>
              <a:rPr lang="en-US" dirty="0"/>
            </a:br>
            <a:r>
              <a:rPr lang="en-US" b="1" dirty="0"/>
              <a:t>Future enhancements</a:t>
            </a:r>
            <a:r>
              <a:rPr lang="en-US" dirty="0"/>
              <a:t> like </a:t>
            </a:r>
            <a:r>
              <a:rPr lang="en-US" b="1" dirty="0"/>
              <a:t>AI-driven feedback analysis and predictive analytics</a:t>
            </a:r>
            <a:r>
              <a:rPr lang="en-US" dirty="0"/>
              <a:t> can further improve decision-making and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5526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{5EBFB8FE-3540-4558-AF2B-217A48B3028D}tf11437505_win32</Template>
  <TotalTime>218</TotalTime>
  <Words>618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Georgia Pro Cond Light</vt:lpstr>
      <vt:lpstr>Speak Pro</vt:lpstr>
      <vt:lpstr>RetrospectVTI</vt:lpstr>
      <vt:lpstr>Interview Feedback Management System.</vt:lpstr>
      <vt:lpstr>Content:- </vt:lpstr>
      <vt:lpstr>Project Features:- Enhancing Interview Management with Efficiency and Transparency</vt:lpstr>
      <vt:lpstr>Technology Stack:- Robust and Scalable Architecture for IFMS</vt:lpstr>
      <vt:lpstr>System Architecture:- scalable and secure Architecture of IFMS</vt:lpstr>
      <vt:lpstr>ER Diagram:- Database Design of the IFMS</vt:lpstr>
      <vt:lpstr>Future Scope:-</vt:lpstr>
      <vt:lpstr>Demo Screenshots:-</vt:lpstr>
      <vt:lpstr>PowerPoint Presentation</vt:lpstr>
      <vt:lpstr>Challenges and Learnings:-</vt:lpstr>
      <vt:lpstr>Conclusion:-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VERMA</dc:creator>
  <cp:lastModifiedBy>UJJWAL VERMA</cp:lastModifiedBy>
  <cp:revision>1</cp:revision>
  <dcterms:created xsi:type="dcterms:W3CDTF">2025-03-31T04:09:21Z</dcterms:created>
  <dcterms:modified xsi:type="dcterms:W3CDTF">2025-03-31T07:48:16Z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